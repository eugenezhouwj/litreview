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Value today of $100 received in year 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1.5%</c:v>
                </c:pt>
              </c:strCache>
            </c:strRef>
          </c:tx>
          <c:spPr>
            <a:solidFill>
              <a:srgbClr val="E09F3E"/>
            </a:solidFill>
            <a:ln w="38100" cap="flat">
              <a:solidFill>
                <a:srgbClr val="E09F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9F3E"/>
              </a:solidFill>
              <a:ln w="9525" cap="flat">
                <a:solidFill>
                  <a:srgbClr val="E09F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86.2</c:v>
                </c:pt>
                <c:pt idx="2">
                  <c:v>74.2</c:v>
                </c:pt>
                <c:pt idx="3">
                  <c:v>64</c:v>
                </c:pt>
                <c:pt idx="4">
                  <c:v>55.1</c:v>
                </c:pt>
                <c:pt idx="5">
                  <c:v>47.5</c:v>
                </c:pt>
                <c:pt idx="6">
                  <c:v>40.9</c:v>
                </c:pt>
                <c:pt idx="7">
                  <c:v>35.3</c:v>
                </c:pt>
                <c:pt idx="8">
                  <c:v>30.4</c:v>
                </c:pt>
                <c:pt idx="9">
                  <c:v>26.2</c:v>
                </c:pt>
                <c:pt idx="10">
                  <c:v>22.6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3.5%</c:v>
                </c:pt>
              </c:strCache>
            </c:strRef>
          </c:tx>
          <c:spPr>
            <a:solidFill>
              <a:srgbClr val="C9D6EA"/>
            </a:solidFill>
            <a:ln w="38100" cap="flat">
              <a:solidFill>
                <a:srgbClr val="C9D6E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D6EA"/>
              </a:solidFill>
              <a:ln w="9525" cap="flat">
                <a:solidFill>
                  <a:srgbClr val="C9D6E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70.9</c:v>
                </c:pt>
                <c:pt idx="2">
                  <c:v>50.3</c:v>
                </c:pt>
                <c:pt idx="3">
                  <c:v>35.6</c:v>
                </c:pt>
                <c:pt idx="4">
                  <c:v>25.3</c:v>
                </c:pt>
                <c:pt idx="5">
                  <c:v>17.9</c:v>
                </c:pt>
                <c:pt idx="6">
                  <c:v>12.7</c:v>
                </c:pt>
                <c:pt idx="7">
                  <c:v>9</c:v>
                </c:pt>
                <c:pt idx="8">
                  <c:v>6.4</c:v>
                </c:pt>
                <c:pt idx="9">
                  <c:v>4.5</c:v>
                </c:pt>
                <c:pt idx="10">
                  <c:v>3.2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7%</c:v>
                </c:pt>
              </c:strCache>
            </c:strRef>
          </c:tx>
          <c:spPr>
            <a:solidFill>
              <a:srgbClr val="7F93B2"/>
            </a:solidFill>
            <a:ln w="38100" cap="flat">
              <a:solidFill>
                <a:srgbClr val="7F93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93B2"/>
              </a:solidFill>
              <a:ln w="9525" cap="flat">
                <a:solidFill>
                  <a:srgbClr val="7F93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50.8</c:v>
                </c:pt>
                <c:pt idx="2">
                  <c:v>25.8</c:v>
                </c:pt>
                <c:pt idx="3">
                  <c:v>13.1</c:v>
                </c:pt>
                <c:pt idx="4">
                  <c:v>6.7</c:v>
                </c:pt>
                <c:pt idx="5">
                  <c:v>3.4</c:v>
                </c:pt>
                <c:pt idx="6">
                  <c:v>1.7</c:v>
                </c:pt>
                <c:pt idx="7">
                  <c:v>0.9</c:v>
                </c:pt>
                <c:pt idx="8">
                  <c:v>0.4</c:v>
                </c:pt>
                <c:pt idx="9">
                  <c:v>0.2</c:v>
                </c:pt>
                <c:pt idx="10">
                  <c:v>0.1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9D6E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C9D6EA"/>
                    </a:solidFill>
                    <a:latin typeface="Arial"/>
                  </a:rPr>
                  <a:t>Years ahead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6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2E3B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6E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9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·  SUMMARY TABLE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rates across contexts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discounted, what the rate means, and what the literature finds — with Singapore evidence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943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v3  ·  28 September 2026  ·  Source: reviews/discount-rates.md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0" y="1005840"/>
          <a:ext cx="5212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term, many meanings — and the choice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received in 50 years is worth today…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470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57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18745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1.5%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/ long-horizon social rates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31012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3375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3.5%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Green Book social rate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77316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48006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7%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opportunity-cost rate (US, Australia, Canada)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discounted in each context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1810512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3736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policy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costs &amp; benefits of projects, climate, health (QALYs)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60720" y="2542032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46888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preference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or rewards at different dates; energy running costs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3273552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20040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finance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cash flows to firms and equity holders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0" y="4005072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6072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93192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Rents and net operating income over the lease horizon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60720" y="4736592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6072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66344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models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utility; riskless real returns economy-wide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60720" y="5468112"/>
            <a:ext cx="457200" cy="457200"/>
          </a:xfrm>
          <a:prstGeom prst="ellipse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6072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39496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policy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discounting at all: the price of overnight central-bank credit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different contexts are not comparable without adjusting for horizon, risk and real vs nominal basis.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38328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policy &amp; cost-benefit analysis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rates fall into two camps: ~1.5–3.5% (social time preference) vs ~7–8% (opportunity cost of capital). Singapore publishes no general rate.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240280"/>
                <a:gridCol w="3566160"/>
                <a:gridCol w="2359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being discounted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rate means (basis)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in the literature (citation)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evidence (citation)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1a. Project and regulatory appraisal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social costs and benefits of public projects and regulations (consumption-equivalent)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discount rate.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Three approaches: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(i) social rate of time preference, r = δ + ηg (δ pure time preference, η elasticity of marginal utility, g consumption growth);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(ii) opportunity cost of displaced private capital;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(iii) risk-free rate plus a risk premium. Real.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Time-preference based </a:t>
                      </a: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1.5–3.5%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(HM Treasury, 2026; OMB, 2023; NZ Treasury, 2024; JASPERS, 2021)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Risk-adjusted </a:t>
                      </a: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2.8–4%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(France Stratégie, 2021; Werkgroep discontovoet, 2025; NOU, 2012)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cost </a:t>
                      </a: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 advanced economies (OMB, 2003; OIA, n.d.; TBS, 2022)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in some developing countries (Zhuang et al., 2007)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Bank rule: 2 × per-capita growth, e.g. 6% at 3% growth (World Bank, 2016)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Critics say 7% overstates the true opportunity cost (Moore et al., 2004)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published general rate found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benchmarks (to verify): the Net Investment Returns expected real return, GIC's 20-yr real return, SINGA borrowing cost, CPF floors of 2.5% / 4% (nominal)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1b. Climate and intergenerational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 damages and benefits over decades to centuries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discount rate at very long horizons. Often </a:t>
                      </a:r>
                      <a:r>
                        <a:rPr lang="en-US" sz="9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because of uncertainty about future growth or rates. Real.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(Stern, 2006)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~4.5%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near-term, declining (Barrage &amp; Nordhaus, 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survey: mean </a:t>
                      </a: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median </a:t>
                      </a: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range 0–10% (Drupp et al., 2018)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Economists' survey: mean ~</a:t>
                      </a: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schedule 4% → 3% → 2% → 1% → 0% over 300+ yrs (Weitzman, 2001)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social cost of carbon at </a:t>
                      </a: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1.5–2.5%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withdrawn in 2025 (EPA, 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for declining rates (Arrow et al., 2013)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1c. Health technology assessment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health costs and health outcomes (QALYs)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rate applied to costs and QALYs, sometimes different for each. Real.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1.5–5%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across agencies: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lvl="1" marL="2286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3.5% (NICE, 2022)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lvl="1" marL="2286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3% (Sanders et al., 2016)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lvl="1" marL="2286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3% (WHO-CHOICE, n.d.)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lvl="1" marL="2286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1.5% (CADTH, 2017)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lvl="1" marL="2286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Netherlands 3% costs / 1.5% outcomes (Zorginstituut, 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lvl="1" marL="2286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 5% (PBAC, n.d.)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lvl="1" marL="228600" indent="-114300">
                        <a:buSzPct val="100000"/>
                        <a:buChar char="•"/>
                      </a:pP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 2% (C2H, n.d.)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r>
                        <a:rPr lang="en-US" sz="9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 costs and outcomes (ACE, n.d.)†. Applies to health technology assessment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% per year unless marked (nominal).  † = unverified or secondary/aggregator source.  Full APA references at the end of the deck.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38328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time preference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personal rates sit far above market rates, largely because they bundle impatience with credit constraints, uncertainty and study design.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240280"/>
                <a:gridCol w="3566160"/>
                <a:gridCol w="2359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being discounted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rate means (basis)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in the literature (citation)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evidence (citation)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2a. Experiments and surveys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Money, or other rewards, received at different 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return to wait, often present-biased (β–δ model). Bundles impatience with utility curvature, credit constraints and trust.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from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to effectively infinite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(Frederick et al., 2002)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~33%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after correcting for publication bias (Matoušek et al., 2022)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when utility curvature is modelled vs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assuming linear utility (Andersen et al., 2008)†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Present-bias β: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 money (Cheung et al., 2025);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 effort (Augenblick et al., 2015)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differences between and within countries (Falk et al., 2018; Wang et al., 2016)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verified Singapore estimates from experiments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2b. Revealed in saving and borrowing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consumption, revealed through wealth and debt choices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time-preference parameters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short-run vs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~4.3%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long-run; exponential discounting rejected (Laibson et al., 2007)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2c. Implicit rates in durable goods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energy or running costs vs upfront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"Implicit" rate. Also absorbs information gaps, inattention and hidden costs.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average, up to ~89% for the lowest-income households (Hausman, 1979)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to 300%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across studies (Train, 1985; Schleich et al., 2016)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under 15%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 vehicles (Allcott &amp; Wozny, 2014)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 undervaluation of fuel costs (Busse et al., 2013)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% per year unless marked (nominal).  † = unverified or secondary/aggregator source.  Full APA references at the end of the deck.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38328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finance &amp; asset pricing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apply hurdle rates well above their cost of capital; Singapore's equity risk premium equals the mature-market level (~4.2%).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240280"/>
                <a:gridCol w="3566160"/>
                <a:gridCol w="2359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being discounted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rate means (basis)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in the literature (citation)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evidence (citation)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3a. Equity risk 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cash flows to equity holders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return required over the risk-free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world premium over bills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~4.7%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(1900–2024) (Dimson et al.,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US premium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4.2–4.4%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(2026) (Damodaran,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average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(Fernandez et al.,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Discount-rate variation explains almost all price-dividend variation (Cochrane, 2011)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~4.2%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Aaa rating, so country risk premium = 0 (Damodaran, 2026)†. Measured over USD Treasuries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3b. Cost of capital / WACC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firm's expected project cash 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average cost of capital, with equity cost from the CAPM. Nominal.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US firm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(nominal)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80%: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5.3–9.9%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(US),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6.3–11.7%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(global) (Damodaran,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regulated utility return on equity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(nominal) (S&amp;P Global,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discount rates vary by horizon (van Binsbergen et al., 2012)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 PowerAssets regulated WACC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5.38%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basis unclear† (EMA, via S&amp;P)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10-yr SGS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2.4–2.5%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(nominal, Sep 2026)†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3c. Hurdle rates in 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project cash flows, as firms actually appraise them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return management requires. Sits well above WACC. Nominal.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hurdle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vs WACC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(Graham &amp; Harvey, 2017)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the cost of capital; premium ~6.6 pp (Jagannathan et al., 2016)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only 0.4 pp pass-through from cost of capital (Gormsen &amp; Huber,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% per year unless marked (nominal).  † = unverified or secondary/aggregator source.  Full APA references at the end of the deck.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38328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estate: housing, commercial, industrial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fall with horizon (&lt;2.6% for claims 100+ years out); Singapore valuers use ~6.5–7.25% for commercial DCFs and cap rates of ~3–6%.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240280"/>
                <a:gridCol w="3566160"/>
                <a:gridCol w="2359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being discounted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rate means (basis)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in the literature (citation)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evidence (citation)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4a. Housing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Rents and housing services over the lease or ownership horizon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return on housing. Long-horizon rates revealed by leasehold vs freehold prices. Rental yield ≈ discount rate − rent growth.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&lt;2.6%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 claims 100+ yrs out (Giglio et al., 2015)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 structure declines to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beyond 100 yrs (Giglio et al., 2021)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Realised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real total return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(1870–2015) (Jordà et al., 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returns lower once costs and measurement are handled (Chambers et al., 2021; Eichholtz et al., 2021)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condos: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~2.5–4%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 year 100, falling to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0.5–1.5%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by year 400 (Fesselmeyer et al., 2022)†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99-yr leases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~11.8%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below freehold (Giglio et al., 2015)†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Bala's Table implies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~2.9–3.5%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as a single flat rate (CLC, n.d.; Kwong et al., 2025)†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gross rental yield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~3.0%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(Global Property Guide, 2026)†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 4-room gross yield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~6.2%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(hdbinsights.sg, 2026)†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4b. Commercial (office, retail, hotel)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operating income, usually on 99-yr or shorter leases in Singapore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DCF target return (discount rate) vs cap rate (≈ discount rate − growth). Nominal.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rates forecast returns for most sectors, but not offices (Plazzi et al., 2010)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Australia: office cap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6.6–7.3%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discount rate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7.75–7.9%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Germany: office cap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4.65–5.35%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(CICT,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rates: office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3.15–3.85%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retail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4.35–6.20%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hotel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4.80%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(CICT,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DCF discount rates: office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6.50–6.75%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retail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7.00–7.25%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(CICT,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4c. Industrial and logistics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Rents on short-tenure (20–30-yr) leasehold land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4b, plus a premium to recover capital over a wasting lease. Nominal.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cap rates track expected returns (Plazzi et al., 2010)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US industrial asset: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cap rate (MIT,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Peer-reviewed evidence is thin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yields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~4.5–6.5%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(market commentary, 2026)†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land tenure capped at 30 yrs since 2012 (JTC, 2025)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REIT valuation inputs not yet extracted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% per year unless marked (nominal).  † = unverified or secondary/aggregator source.  Full APA references at the end of the deck.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38328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Macroeconomics &amp; monetary policy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7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ideas share the name: model patience (ρ ≈ 4%), the neutral real rate (US &lt;1%), and central-bank lending rates (Fed 4.00%).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240280"/>
                <a:gridCol w="3566160"/>
                <a:gridCol w="2359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being discounted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rate means (basis)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in the literature (citation)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 evidence (citation)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5a. Discount factor β in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Households' future utility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time preference ρ, where β = 1/(1+ρ). A preference parameter, not a market rate. Real.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calibration ρ ≈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(β = 0.99 quarterly)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DSGE prior ≈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1%/yr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(Smets &amp; Wouters, 2007)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4–4.5%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(Gourinchas &amp; Parker, 2002)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Heterogeneous β ≈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2–9%/yr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 match the wealth distribution (Carroll et al., 2017)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5b. Neutral real rate r*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Riskless real returns economy-wide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equilibrium short real rate at full employment with stable inflation. Unobserved and model-based. Real.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(2025Q4) (Holston et al., 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 area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(HLW) or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0.2–0.8%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(modified HLW) (Bank of Finland,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trend ~2% → peak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(1980) →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(2016) (Del Negro et al., 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Centuries-long decline of 0.6–1.6 bp/yr (Schmelzing, 2020; Rogoff et al., 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published. Singapore rates are largely imported through interest parity (MAS, n.d.)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5c. Long-term government bond yields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Riskless (sovereign) cash 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benchmark for the risk-free rate. Includes term and liquidity premia.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10-yr real (TIPS)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~2.65–2.8%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(Sep 2026) (TIPSWatch, 2026)†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10y-10y TIPS forward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(St. Louis Fed,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10-yr SGS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2.4–2.5%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(nominal); no inflation-linked bonds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real rate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~0.5–1%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assuming 1.5–2% inflation (Trading Economics, 2026)†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6a. Central bank "discount rate"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discounting of future values: the price of overnight central-bank credit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administered lending rate, the ceiling of the policy corridor. Nominal.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primary credit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from 17 Sep 2026 (Federal Reserve,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ECB marginal lending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2.90%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from 16 Sep 2026 (ECB, 2026)†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 targets the exchange rate (S$NEER), not an interest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 Standing Facility = reference rate ± 50 bp (MAS, n.d.)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114300" indent="-114300">
                        <a:buSzPct val="100000"/>
                        <a:buChar char="•"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SORA </a:t>
                      </a: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~1.2%</a:t>
                      </a: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(23 Sep 2026)†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t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% per year unless marked (nominal).  † = unverified or secondary/aggregator source.  Full APA references at the end of the deck.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points that apply across every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E2E52"/>
          </a:solidFill>
          <a:ln w="12700">
            <a:solidFill>
              <a:srgbClr val="1E2E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Horizon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rates tend to decline: from uncertainty about future growth (Weitzman, 2001; Arrow et al., 2013), from the term structure revealed by leasehold prices (Giglio et al., 2015), and from present bias. Theory is not settled (Gollier &amp; Weitzman, 2010).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E2E52"/>
          </a:solidFill>
          <a:ln w="12700">
            <a:solidFill>
              <a:srgbClr val="1E2E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45920"/>
            <a:ext cx="502920" cy="5029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that embed a risk premium — WACC, property IRRs, opportunity-cost social rates — sit systematically above riskless or time-preference rates.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E2E52"/>
          </a:solidFill>
          <a:ln w="12700">
            <a:solidFill>
              <a:srgbClr val="1E2E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114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vs nominal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7548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social rates are real; market and corporate rates are usually nominal. Singapore has no inflation-linked bonds, so a real rate (~0.5–1%) must be constructed from the ~2.4% SGS yield.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8404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E2E52"/>
          </a:solidFill>
          <a:ln w="12700">
            <a:solidFill>
              <a:srgbClr val="1E2E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114800"/>
            <a:ext cx="502920" cy="5029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4114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≠ pure preference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7548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measured rates bundle credit constraints, uncertainty, information gaps, tenure decay and appraisal smoothing with impatience.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(APA 7th edition)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988552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44068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for Care Effectiveness. (n.d.).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methods guides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Ministry of Health, Singapore. https://www.ace-hta.gov.sg/resources/process-methods/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Allcott, H., &amp; Wozny, N. (2014). Gasoline prices, fuel economy, and the energy paradox.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Economics and Statistics, 96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(5), 779–795. https://doi.org/10.1162/REST_a_00419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Andersen, S., Harrison, G. W., Lau, M. I., &amp; Rutström, E. E. (2008). Eliciting risk and time preferences.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Econometrica, 76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583–618. https://doi.org/10.1111/j.1468-0262.2008.00848.x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Andreoni, J., &amp; Sprenger, C. (2012). Estimating time preferences from convex budgets.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102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(7), 3333–3356. https://doi.org/10.1257/aer.102.7.3333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Arrow, K. J., &amp; Lind, R. C. (1970). Uncertainty and the evaluation of public investment decisions.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60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364–378.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Arrow, K., Cropper, M., Gollier, C., Groom, B., Heal, G., Newell, R., Nordhaus, W., Pindyck, R., Pizer, W., Portney, P., Sterner, T., Tol, R. S. J., &amp; Weitzman, M. (2013). Determining benefits and costs for future generations.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Science, 341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(6144), 349–350. https://doi.org/10.1126/science.1235665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Development Bank. (2017).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the economic analysis of projects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https://www.adb.org/documents/guidelines-economic-analysis-projects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of State Floodplain Managers. (2025).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rolls back BCA rates for mitigation projects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https://www.floods.org/news-views/fema-news/fema-rolls-back-bca-rates-for-mitigation-projects/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Augenblick, N., Niederle, M., &amp; Sprenger, C. (2015). Working over time: Dynamic inconsistency in real effort tasks.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Journal of Economics, 130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1067–1115. https://doi.org/10.1093/qje/qjv020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Finland. (2024). Recent insights into r-star: An analysis using a modified Holston-Laubach-Williams model.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Finland Bulletin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https://www.bofbulletin.fi/en/2024/articles/recent-insights-into-r-star-an-analysis-using-a-modified-holston-laubach-williams-model/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Barrage, L., &amp; Nordhaus, W. (2024). Policies, projections, and the social cost of carbon: Results from the DICE-2023 model.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the National Academy of Sciences, 121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(13), Article e2312030121. https://doi.org/10.1073/pnas.2312030121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Blanchard, O. (2019). Public debt and low interest rates.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109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(4), 1197–1229. https://doi.org/10.1257/aer.109.4.1197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Burgess, D. F., &amp; Zerbe, R. O. (2011). Appropriate discounting for benefit-cost analysis.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Benefit-Cost Analysis, 2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(2).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Busse, M. R., Knittel, C. R., &amp; Zettelmeyer, F. (2013). Are consumers myopic? Evidence from new and used car purchases.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103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220–256. https://doi.org/10.1257/aer.103.1.220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097280"/>
            <a:ext cx="544068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CADTH. (2017).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the economic evaluation of health technologies: Canada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(4th ed.). https://www.cda-amc.ca/guidelines-economic-evaluation-health-technologies-canada-4th-edition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CapitaLand Integrated Commercial Trust. (2024).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2024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https://investor.cict.com.sg/misc/ar2024/139/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CapitaLand Integrated Commercial Trust. (2025).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2025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https://investor.cict.com.sg/misc/ar2025/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CBRE. (2026).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cap rate survey H2 2025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https://www.cbre.com/insights/reports/us-cap-rate-survey-h2-2025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Outcomes Research and Economic Evaluation for Health. (n.d.).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for preparing cost-effectiveness evaluation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National Institute of Public Health, Japan. https://c2h.niph.go.jp/tools/guideline/guideline_en.pdf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Liveable Cities. (n.d.).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Bala's Table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[Working paper]. https://isomer-user-content.by.gov.sg/50/ade6cd16-890b-4a1b-9d1d-d0e189daba03/balas-table.pdf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Chambers, D., Spaenjers, C., &amp; Steiner, E. (2021). The rate of return on real estate: Long-run micro-level evidence.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Financial Studies, 34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(8), 3572–3607.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Cheung, S. L., Tymula, A., &amp; Wang, X. (2021).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Quasi-hyperbolic present bias: A meta-analysis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(IZA Discussion Paper No. 14625). IZA Institute of Labor Economics. https://docs.iza.org/dp14625.pdf (updated version 2025, SSRN: https://papers.ssrn.com/abstract=5222564)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Cochrane, J. H. (2011). Presidential address: Discount rates.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Finance, 66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(4), 1047–1108. https://doi.org/10.1111/j.1540-6261.2011.01671.x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Cohen, J., Ericson, K. M., Laibson, D., &amp; White, J. M. (2020). Measuring time preferences.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Economic Literature, 58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(2), 299–347. https://doi.org/10.1257/jel.20191074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Congressional Research Service. (n.d.).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cost of greenhouse gases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(CRS In Focus IF12916). https://www.congress.gov/crs-product/IF12916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Cropper, M. L., Freeman, M. C., Groom, B., &amp; Pizer, W. A. (2014). Declining discount rates.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104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(5), 538–543. https://doi.org/10.1257/aer.104.5.538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Damodaran, A. (2026a).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risk: Determinants, measures and implications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[Blog post]. https://aswathdamodaran.substack.com/p/country-risk-determinants-measures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Damodaran, A. (2026b, July).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risk: Drivers, measures and implications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[Blog post]. https://aswathdamodaran.blogspot.com/2026/07/country-risk-drivers-measures-and.html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Damodaran, A. (2026c).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capital by sector (US)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[Data set]. NYU Stern School of Business. https://pages.stern.nyu.edu/~adamodar/New_Home_Page/datafile/wacc.html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Damodaran, A. (2026d).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update 5 for 2026: Risk and hurdle rates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[Blog post]. https://aswathdamodaran.substack.com/p/data-update-5-for-2026-risk-and-hurdle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= one or more details (authors, volume/pages, title or date) not yet confirmed against the source; check before formal citation.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(APA 7th edition)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988552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44068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Damodaran, A. (2026e, January).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Musings on markets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[Blog posts on the implied equity risk premium]. https://aswathdamodaran.blogspot.com/2026/01/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Negro, M., Giannone, D., Giannoni, M. P., &amp; Tambalotti, A. (2019). Global trends in interest rates.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International Economics, 118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248–262. https://www.nber.org/papers/w25039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Dietz, S., Gollier, C., &amp; Kessler, L. (2018). The climate beta.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Environmental Economics and Management, 87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258–274.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Dimson, E., Marsh, P., &amp; Staunton, M. (2025).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UBS global investment returns yearbook 2025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UBS. https://www.ubs.com/global/en/media/display-page-ndp/en-20250304-global-investment-returns-yearbook-2025.html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Drupp, M. A., Freeman, M. C., Groom, B., &amp; Nesje, F. (2018). Discounting disentangled.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Journal: Economic Policy, 10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(4), 109–134. https://doi.org/10.1257/pol.20160240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Eichholtz, P., Korevaar, M., Lindenthal, T., &amp; Tallec, R. (2021). The total return and risk to residential real estate.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Financial Studies, 34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(8), 3608–3646.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Central Bank. (2026).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ECB interest rates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https://www.ecb.europa.eu/stats/policy_and_exchange_rates/key_ecb_interest_rates/html/index.en.html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Falk, A., Becker, A., Dohmen, T., Enke, B., Huffman, D., &amp; Sunde, U. (2018). Global evidence on economic preferences.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Journal of Economics, 133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(4), 1645–1692. https://doi.org/10.1093/qje/qjy013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Ministry for Digital and Transport. (n.d.).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Bundesverkehrswegeplan 2030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[Federal transport infrastructure plan 2030]. https://www.bmv.de/DE/Themen/Mobilitaet/Infrastrukturplanung-Investitionen/Bundesverkehrswegeplan-2030/bundesverkehrswegeplan-2030.html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Bank of St. Louis. (2026, May).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FOMC's estimate of r-star with alternative estimates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 the Economy. https://www.stlouisfed.org/on-the-economy/2026/may/comparing-fomc-estimate-r-star-alternative-estimates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Board. (2026, September 16).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 issued September 16, 2026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[Press release]. https://www.federalreserve.gov/newsevents/pressreleases/monetary20260916a1.htm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Fernandez, P., et al. (2025).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Market risk premium and risk-free rate used for 54 countries in 2025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[Summarised by BVResources]. https://www.bvresources.com/articles/bvwire/global-fernandezs-survey-of-2025-risk-premiums-and-risk-free-rates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Fesselmeyer, E., Liu, H., &amp; Salvo, A. (2016).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households discount over centuries? Evidence from Singapore's private housing market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(IZA Discussion Paper No. 9862). https://papers.ssrn.com/sol3/papers.cfm?abstract_id=2761339 (reported as published in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Applied Econometrics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2022: https://onlinelibrary.wiley.com/doi/10.1002/jae.2867)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Stratégie. (2021).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du taux d'actualisation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[Revision of the discount rate]. https://www.strategie-plan.gouv.fr/files/files/Edito%20Riche/ESE/fs-guide-evaluation-i-taux_dactualisation-23novembre-final.pdf †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097280"/>
            <a:ext cx="544068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Frederick, S., Loewenstein, G., &amp; O'Donoghue, T. (2002). Time discounting and time preference: A critical review.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Economic Literature, 40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(2), 351–401. https://doi.org/10.1257/002205102320161311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Freeman, M. C., &amp; Groom, B. (2015). Positively gamma discounting: Combining the opinions of experts on the social discount rate.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Journal, 125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(585), 1015–1024.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Giglio, S., Maggiori, M., &amp; Stroebel, J. (2015). Very long-run discount rates.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Journal of Economics, 130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1–53. https://doi.org/10.1093/qje/qju036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Giglio, S., Maggiori, M., Rao, K., Stroebel, J., &amp; Weber, A. (2021). Climate change and long-run discount rates: Evidence from real estate.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Financial Studies, 34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(8), 3527–3571. https://doi.org/10.1093/rfs/hhab032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Property Guide. (2026).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rental yields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https://www.globalpropertyguide.com/asia/singapore/rental-yields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Gollier, C. (2012).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the planet's future: The economics of discounting in an uncertain world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Princeton University Press.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Gollier, C., &amp; Weitzman, M. L. (2010). How should the distant future be discounted when discount rates are uncertain?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Letters, 107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350–353.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Gormsen, N. J., &amp; Huber, K. (2025). Corporate discount rates.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115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(6), 2001–2049. https://doi.org/10.1257/aer.20231246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Gourinchas, P.-O., &amp; Parker, J. A. (2002). Consumption over the life cycle.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Econometrica, 70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47–89. https://doi.org/10.1111/1468-0262.00269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Graham, J. R., &amp; Harvey, C. R. (2017).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CFO global business outlook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[Survey results reported in "CFOs still spurning value-creating projects", CFO.com]. https://www.cfo.com/capital-markets/2017/06/cfos-still-spurning-value-creating-projects/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Harrison, G. W., Lau, M. I., &amp; Williams, M. B. (2002). Estimating individual discount rates in Denmark: A field experiment.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92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(5), 1606–1617. https://doi.org/10.1257/000282802762024674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Hausman, J. A. (1979). Individual discount rates and the purchase and utilization of energy-using durables.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Journal of Economics, 10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33–54. https://doi.org/10.2307/3003318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hdbinsights.sg. (2026).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4-room HDB rental yield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https://hdbinsights.sg/4-room-hdb-rental-yield/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Intervention and Technology Assessment Program. (n.d.).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 health technology assessment guidelines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[As summarised in PMC9969024]. https://pmc.ncbi.nlm.nih.gov/articles/PMC9969024/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Treasury. (2026a).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Book supplementary guidance: Discounting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https://www.gov.uk/government/publications/green-book-supplementary-guidance-discounting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Treasury. (2026b).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Book discount rate review 2026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[Review by M. Freeman &amp; B. Groom]. https://www.gov.uk/government/publications/green-book-discount-rate-review-2026 †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= one or more details (authors, volume/pages, title or date) not yet confirmed against the source; check before formal citation.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(APA 7th edition)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988552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44068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Holston, K., Laubach, T., &amp; Williams, J. C. (2023).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natural rate of interest after COVID-19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(Staff Report No. 1063). Federal Reserve Bank of New York. https://www.newyorkfed.org/research/policy/rstar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Imai, T., Rutter, T. A., &amp; Camerer, C. F. (2021). Meta-analysis of present-bias estimation using convex time budgets.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Journal, 131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(636), 1788–1814. https://doi.org/10.1093/ej/ueaa115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Jagannathan, R., Matsa, D. A., Meier, I., &amp; Tarhan, V. (2016). Why do firms use high discount rates?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Financial Economics, 120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445–463. https://doi.org/10.1016/j.jfineco.2016.01.012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JASPERS. (2021).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appraisal vademecum 2021–2027: General principles and sector applications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European Investment Bank. https://jaspers.eib.org/knowledge/publications/economic-appraisal-vademecum-2021-2027-general-principles-and-sector-applications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Jordà, Ò., Knoll, K., Kuvshinov, D., Schularick, M., &amp; Taylor, A. M. (2019). The rate of return on everything, 1870–2015.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Journal of Economics, 134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1225–1298. https://doi.org/10.1093/qje/qjz012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JTC Corporation. (2025).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MTI Committee of Supply 2025: Enhancements to the industrial land lease framework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[Press release]. https://www.jtc.gov.sg/about-jtc/news-and-stories/press-releases/mti-committee-of-supply-2025-enhancements-to-the-industrial-land-lease-framework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Kwong, Goh, &amp; Ti. (2025). Unpacking Singapore's leasehold relativity table.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Real Estate Review, 28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379–406. https://ideas.repec.org/a/ire/issued/v28n032025p379-406.html † (author initials to confirm)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Laibson, D. (1997). Golden eggs and hyperbolic discounting.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Journal of Economics, 112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(2), 443–477.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Laibson, D., Repetto, A., &amp; Tobacman, J. (2007).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discount functions with consumption choices over the lifecycle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(NBER Working Paper No. 13314). National Bureau of Economic Research. https://www.nber.org/papers/w13314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decay and the prices of private residential properties in Singapore. (2022).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Real Estate Review, 25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401–421. https://ideas.repec.org/a/ire/issued/v25n032022p401-421.html † (authors to confirm)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Mapletree Industrial Trust. (2026).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 announcement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[Regulatory filing]. https://investor.mapletreeindustrialtrust.com/newsroom/20260428_201404_ME8U_B5K5LXJU7I2F5UP8.1.pdf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Matoušek, J., Havránek, T., &amp; Iršová, Z. (2022). Individual discount rates: A meta-analysis of experimental evidence.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Economics, 25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318–358. https://doi.org/10.1007/s10683-021-09716-9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Authority of Singapore. (n.d.-a).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Standing Facility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https://www.mas.gov.sg/monetary-policy/liquidity-facilities/mas-standing-facility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Authority of Singapore. (n.d.-b).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Singapore's monetary policy framework: FAQs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https://www.mas.gov.sg/monetary-policy/singapores-monetary-policy-framework/faqs/section-2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Moore, M. A., Boardman, A. E., &amp; Vining, A. R. (2013). More appropriate discounting: The rate of social time preference and the value of the social discount rate.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Benefit-Cost Analysis, 4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1–16. †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097280"/>
            <a:ext cx="544068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Moore, M. A., Boardman, A. E., Vining, A. R., Weimer, D. L., &amp; Greenberg, D. H. (2004). "Just give me a number!" Practical values for the social discount rate.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Policy Analysis and Management, 23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(4), 789–812.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for Health and Care Excellence. (2022).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health technology evaluations: The manual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(PMG36). https://www.nice.org.uk/process/pmg36/chapter/economic-evaluation-2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Treasury. (2024).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https://www.treasury.govt.nz/information-and-services/public-sector-leadership/guidance/reporting-financial/discount-rates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Norwegian Ministry of Finance. (2012).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Samfunnsøkonomiske analyser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[Cost-benefit analysis] (NOU 2012:16). https://www.regjeringen.no/en/documents/nou-2012-16/id700821/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OECD. (2025).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 in Singapore in 2025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OECD Publishing. https://www.oecd.org/content/dam/oecd/en/publications/reports/2025/01/budgeting-in-singapore-in-2025_c28f6afb/79ec8b00-en.pdf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Impact Analysis. (n.d.).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 analysis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[Guidance note]. Department of the Prime Minister and Cabinet, Australia. https://oia.pmc.gov.au/resources/guidance-assessing-impacts/cost-benefit-analysis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Management and Budget. (2003).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A-4: Regulatory analysis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https://obamawhitehouse.archives.gov/omb/circulars_a004_a-4/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Management and Budget. (2023).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A-4: Regulatory analysis—Appendix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(rescinded 2025). https://bidenwhitehouse.archives.gov/wp-content/uploads/2023/11/CircularA-4Appendix.pdf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Management and Budget. (2025).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Rescission and reinstatement of Circular A-4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(Memorandum M-25-15). https://www.whitehouse.gov/wp-content/uploads/2025/03/M-25-15-Recission-and-Reinstatement-of-Circular-A-4.pdf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Benefits Advisory Committee. (n.d.).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preparing a submission to the PBAC, Section 3A.1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Australian Government Department of Health. https://pbac.pbs.gov.au/section-3a/3a-1-overview-and-rationale-of-economic-evaluation.html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Plazzi, A., Torous, W., &amp; Valkanov, R. (2010). Expected returns and expected growth in rents of commercial real estate.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Financial Studies, 23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(9), 3469–3519.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PropertyBro. (2026).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property investment yields in Singapore 2026: Sector guide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https://propertybro.sg/commercial-property-investment-yields-in-singapore-2026-sector-guide/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Rogoff, K. S., Rossi, B., &amp; Schmelzing, P. (2024). Long-run trends in long-maturity real rates, 1311–2022.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https://www.nber.org/papers/w30475 † (volume/pages to confirm)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Market Intelligence. (2025).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Underearning spread widens for gas, electric utilities in ROE analysis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https://www.spglobal.com/market-intelligence/en/news-insights/research/underearning-spread-widens-for-gas-electric-utilities-in-roe-analysis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Ratings. (n.d.).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PowerAssets Ltd.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[Credit research]. https://www.alacrastore.com/s-and-p-credit-research/SP-PowerAssets-Ltd-2764619 †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= one or more details (authors, volume/pages, title or date) not yet confirmed against the source; check before formal citation.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(APA 7th edition)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988552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of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44068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Sanders, G. D., Neumann, P. J., Basu, A., Brock, D. W., Feeny, D., Krahn, M., Kuntz, K. M., Meltzer, D. O., Owens, D. K., Prosser, L. A., Salomon, J. A., Sculpher, M. J., Trikalinos, T. A., Russell, L. B., Siegel, J. E., &amp; Ganiats, T. G. (2016). Recommendations for conduct, methodological practices, and reporting of cost-effectiveness analyses: Second Panel on Cost-Effectiveness in Health and Medicine.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JAMA, 316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(10), 1093–1103. https://doi.org/10.1001/jama.2016.12195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Schleich, J., Gassmann, X., Faure, C., &amp; Meissner, T. (2016). Making the implicit explicit: A look inside the implicit discount rate.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Policy, 97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321–331. https://www.sciencedirect.com/science/article/pii/S0301421516304050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Schmelzing, P. (2020).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centuries of global real interest rates, R-G, and the 'suprasecular' decline, 1311–2018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(Staff Working Paper No. 845). Bank of England.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Smets, F., &amp; Wouters, R. (2007). Shocks and frictions in US business cycles: A Bayesian DSGE approach.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97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(3), 586–606. https://doi.org/10.1257/aer.97.3.586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Stern, N. (2006).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 review on the economics of climate change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HM Treasury.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TIPSWatch. (2026, September 17).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TIPS reopening gets real yield of 2.653%, highest in nearly 18 years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https://tipswatch.com/2026/09/17/10-year-tips-reopening-gets-real-yield-of-2-653-highest-in-nearly-18-years/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Economics. (2026).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government bond 10Y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https://tradingeconomics.com/singapore/government-bond-yield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Train, K. (1985). Discount rates in consumers' energy-related decisions: A review of the literature.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10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(12), 1243–1253.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Board of Canada Secretariat. (2022).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Canada's cost-benefit analysis guide for regulatory proposals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https://publications.gc.ca/site/eng/9.910204/publication.html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Binsbergen, J., Brandt, M., &amp; Koijen, R. (2012). On the timing and pricing of dividends.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102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(4), 1596–1618. https://doi.org/10.1257/aer.102.4.1596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M., Rieger, M. O., &amp; Hens, T. (2016). How time preferences differ: Evidence from 53 countries.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Economic Psychology, 52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115–135. https://www.sciencedirect.com/science/article/abs/pii/S0167487015001439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Weitzman, M. L. (2001). Gamma discounting.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Economic Review, 91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(1), 260–271. https://doi.org/10.1257/aer.91.1.260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Werkgroep discontovoet. (2025).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werkgroep discontovoet 2025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[Report of the discount rate working group]. Government of the Netherlands. https://www.rijksoverheid.nl/documenten/rapporten/2025/09/19/rapport-werkgroep-discontovoet-2025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Bank. (2016).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costs and benefits in economic analysis of World Bank projects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[Technical note]. https://documents.worldbank.org/en/publication/documents-reports/documentdetail/099610503022315638 †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(2003).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choices in health: WHO guide to cost-effectiveness analysis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(T. Tan-Torres Edejer et al., Eds.).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097280"/>
            <a:ext cx="5440680" cy="5166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Zhuang, J., Liang, Z., Lin, T., &amp; De Guzman, F. (2007).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practice in the choice of social discount rate for cost-benefit analysis: A survey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(ERD Working Paper No. 94). Asian Development Bank. https://www.adb.org/sites/default/files/publication/28360/wp094.pdf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Zorginstituut Nederland. (2024). </a:t>
            </a:r>
            <a:r>
              <a:rPr lang="en-US" sz="8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Richtlijn voor het uitvoeren van economische evaluaties in de gezondheidszorg</a:t>
            </a: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[Guideline for economic evaluations in healthcare]. https://www.zorginstituutnederland.nl/publicaties/publicatie/2024/01/16/richtlijn-voor-het-uitvoeren-van-economische-evaluaties-in-de-gezondheidszorg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= one or more details (authors, volume/pages, title or date) not yet confirmed against the source; check before formal citation.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Discount rates across contexts</dc:title>
  <dc:subject>PptxGenJS Presentation</dc:subject>
  <dc:creator>PptxGenJS</dc:creator>
  <cp:lastModifiedBy>PptxGenJS</cp:lastModifiedBy>
  <cp:revision>1</cp:revision>
  <dcterms:created xsi:type="dcterms:W3CDTF">2026-09-28T04:30:21Z</dcterms:created>
  <dcterms:modified xsi:type="dcterms:W3CDTF">2026-09-28T04:30:21Z</dcterms:modified>
</cp:coreProperties>
</file>